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  <p:sldId id="264" r:id="rId15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question is whether relationship events (onsets/offsets of predicates such as hold, release, next_to) influence each other's timing, beyond simple explanations. Evidence classes: Phases 3-4 used synthetic worlds (results/phase3, results/phase4); Phase 5H uses real VidOR ground-truth annotations only (data/vidor, annotations, no videos); no detector outputs have been used anywhere in Phase 5H.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Phase 3 H1 = PASS (research/phase3_exit_report.md, results/phase3/aggregated/h1_decision.json); Phase 4 H2 = MIXED, H3 = MIXED, H4 = FAIL, METHOD CONTRIBUTION = NO (research/phase4_exit_report.md, results/phase4/aggregated/decisions.json); Phase 5H gate MODIFY (research/phase5h_hawkes_design.md); Stage 0 HAWKES SIGNAL = WEAK-MIXED (research/phase5h_stage0_report.md, results/phase5h/stage0/summary.json); Phase 5H-1 pre-registration commit 07bf369, GLM engine commit 4d810ce. Phases 3-4 are synthetic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values from results/phase5h/stage0/summary.json (VidOR ground-truth annotations; TEST = VidOR validation, 835 videos, 50,509 events). Observed HK2-HK1 = +0.0742 [0.0660, 0.0827]; 19 circular-shift null values 0.0392-0.0431, median 0.0404; excess 0.0338 = 0.070 x within-relation gain 0.4820. Criteria: C1 pass (beats null), C2 pass (beats duration/base controls), C3 fail (below 10%), C4 fail (stable cells 404 vs null up to 422). Decision rule frozen in research/phase5h_stage0_preregistration.md. Figure: results/phase5h1/showcase/fig_stage0_gain_vs_null.png (generated from saved artifacts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 results/phase5h/stage0/summary.json (null median 0.0404 of 0.0742). 2: peri-event table in results/phase5h/stage0/stage0_tables.md, e.g. ON(in_front_of)-&gt;ON(next_to) at 0-0.5 s: 0.0001 vs baseline 0.0087 (descriptive, Stage 0 FIT). 3: results/phase5h1/audit/audit.json (Stage 0 FIT only: 5,600 videos, 356,040 events; top-6 share 0.864; spatial family 226,176 events = 63.5%); figure results/phase5h1/showcase/fig_fit_support.png. 4: data-use audit in research/phase5h1_preregistration.md §2.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Ladder: research/phase5h1_preregistration.md §4 (point-process GLM with exp link; piecewise-constant covariates; exact compensator). Literature: research/phase5h1_literature.md. Audit: results/phase5h1/audit/audit.json and predicate_support.csv. Engine: src/taorg/hawkes/glm.py, tests tests/unit/test_hawkes_glm.py (eager-reference likelihood, valid intensity under extreme inhibition, positive-only bounds, reproducibility, leakage guard). Full suite 234 passed. Smoke: results/phase5h1/smoke/smoke.json — labelled SMOKE, not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results/phase5h1/full/tables.md T3, T5; analysis.json. GO needs K1-K4; K4 failed, so the registered rule gives NARROW (K1 + at least one family).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T4 (nulls), T7 (K4), posthoc_foldnull_cells.json. Whole weight-vector Spearman 0.299 beats every null (max 0.270); no single cell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T8 ablations, T6 family test, posthoc_boundary.json (POST-HOC, descriptive).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research/phase5h1_exit_report.md §14-15; research/phase5h1_supervisor_update.md.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D2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7B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9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7B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relationships trigger each other in time?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temporal point-process (Hawkes-type) model learn dependencies between relationship events in video — for example “release starts → hold ends” — beyond what simpler explanations (how busy an object pair is, how long relations last, which relations are currently on) already capture?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4290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9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a genuine event-dependency model could justify a temporal-reasoning contribution; if simple models explain the signal, the extra complexity is not justified.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classes in this project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89320" y="16916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26394A"/>
          </a:solidFill>
          <a:ln w="12700">
            <a:solidFill>
              <a:srgbClr val="2639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26480" y="1920240"/>
            <a:ext cx="274320" cy="274320"/>
          </a:xfrm>
          <a:prstGeom prst="ellipse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0528" y="17647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worlds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3–4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89320" y="25603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26394A"/>
          </a:solidFill>
          <a:ln w="12700">
            <a:solidFill>
              <a:srgbClr val="2639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2788920"/>
            <a:ext cx="274320" cy="274320"/>
          </a:xfrm>
          <a:prstGeom prst="ellipse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0528" y="263347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ground-truth annotations (VidOR)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971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26394A"/>
          </a:solidFill>
          <a:ln w="12700">
            <a:solidFill>
              <a:srgbClr val="2639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3657600"/>
            <a:ext cx="274320" cy="274320"/>
          </a:xfrm>
          <a:prstGeom prst="ellipse">
            <a:avLst/>
          </a:prstGeom>
          <a:solidFill>
            <a:srgbClr val="8A949B"/>
          </a:solidFill>
          <a:ln w="12700">
            <a:solidFill>
              <a:srgbClr val="8A94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0528" y="350215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outputs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840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yet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TAORG · Phase 5H-1 progress update · 7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7B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and completed milestones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1554480" cy="274320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463040"/>
            <a:ext cx="411480" cy="411480"/>
          </a:xfrm>
          <a:prstGeom prst="ellipse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44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7099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gating helps under controlled corruption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3474720"/>
            <a:ext cx="1335024" cy="438912"/>
          </a:xfrm>
          <a:prstGeom prst="roundRect">
            <a:avLst>
              <a:gd name="adj" fmla="val 16667"/>
            </a:avLst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47472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= PASS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125980" y="1325880"/>
            <a:ext cx="1554480" cy="274320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35708" y="1463040"/>
            <a:ext cx="411480" cy="411480"/>
          </a:xfrm>
          <a:prstGeom prst="ellipse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5708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720340" y="1444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720340" y="17099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235708" y="2057400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V-HPED filter not justified over simple baselines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35708" y="3474720"/>
            <a:ext cx="1335024" cy="438912"/>
          </a:xfrm>
          <a:prstGeom prst="roundRect">
            <a:avLst>
              <a:gd name="adj" fmla="val 16667"/>
            </a:avLst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35708" y="347472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= NO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94760" y="1325880"/>
            <a:ext cx="1554480" cy="274320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04488" y="1463040"/>
            <a:ext cx="411480" cy="411480"/>
          </a:xfrm>
          <a:prstGeom prst="ellipse">
            <a:avLst/>
          </a:prstGeom>
          <a:solidFill>
            <a:srgbClr val="4A5A66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04488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1444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5H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17099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904488" y="2057400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Hawkes maths exists already; the gap is empirical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904488" y="3474720"/>
            <a:ext cx="1335024" cy="438912"/>
          </a:xfrm>
          <a:prstGeom prst="roundRect">
            <a:avLst>
              <a:gd name="adj" fmla="val 16667"/>
            </a:avLst>
          </a:prstGeom>
          <a:solidFill>
            <a:srgbClr val="4A5A66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904488" y="347472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= MODIFY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63540" y="1325880"/>
            <a:ext cx="1554480" cy="274320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73268" y="1463040"/>
            <a:ext cx="411480" cy="411480"/>
          </a:xfrm>
          <a:prstGeom prst="ellipse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3268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57900" y="1444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057900" y="17099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VidOR GT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573268" y="2057400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Cross-relation timing signal exists but is small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573268" y="3474720"/>
            <a:ext cx="1335024" cy="438912"/>
          </a:xfrm>
          <a:prstGeom prst="roundRect">
            <a:avLst>
              <a:gd name="adj" fmla="val 16667"/>
            </a:avLst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73268" y="347472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WEAK-MIXED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132320" y="1325880"/>
            <a:ext cx="1554480" cy="274320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2048" y="1463040"/>
            <a:ext cx="411480" cy="411480"/>
          </a:xfrm>
          <a:prstGeom prst="ellipse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42048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726680" y="1444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5H-1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726680" y="17099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VidOR GT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242048" y="2057400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Pre-registered; GLM engine built and tested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242048" y="3474720"/>
            <a:ext cx="1335024" cy="438912"/>
          </a:xfrm>
          <a:prstGeom prst="roundRect">
            <a:avLst>
              <a:gd name="adj" fmla="val 16667"/>
            </a:avLst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242048" y="347472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was pre-registered before evaluation; failed and negative results are kept in the record.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9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0: a real but small timing signal</a:t>
            </a:r>
            <a:endParaRPr lang="en-US" sz="2800" dirty="0"/>
          </a:p>
        </p:txBody>
      </p:sp>
      <p:pic>
        <p:nvPicPr>
          <p:cNvPr id="3" name="Image 0" descr="Observed Stage 0 gain with 95% CI versus 19 shuffled-timing null runs and the practical thres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051560"/>
            <a:ext cx="7223760" cy="24963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118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55E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+0.074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1605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held-out gain, nats/event (95% CI 0.066–0.083)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6118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A94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0.040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3246120" y="41605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gain after shuffling timing — about 54% of the observed gain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36118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41605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timing-specific excess relative to within-relation gain (registered bar: 10%)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9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Stage 0 leaves unresolved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17320"/>
            <a:ext cx="457200" cy="457200"/>
          </a:xfrm>
          <a:prstGeom prst="ellipse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435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Heterogeneity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288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 object pairs produce more events of every kind. More than half of the gain survives shuffled timing, so the model may be measuring activity, not triggering.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28032" y="1417320"/>
            <a:ext cx="457200" cy="457200"/>
          </a:xfrm>
          <a:prstGeom prst="ellipse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435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8288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0.5 s, some relations start less often than baseline. A positive-only Hawkes model cannot represent that.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108960"/>
            <a:ext cx="457200" cy="457200"/>
          </a:xfrm>
          <a:prstGeom prst="ellipse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27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5204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6 predicates = 86% of events; spatial relations = 63.5%. Contact and vehicle relations are rare.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28032" y="3108960"/>
            <a:ext cx="457200" cy="457200"/>
          </a:xfrm>
          <a:prstGeom prst="ellipse">
            <a:avLst/>
          </a:prstGeom>
          <a:solidFill>
            <a:srgbClr val="4A5A66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28032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3127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untouched data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5204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annotated VidOR video was used in Stage 0, so Phase 5H-1 is exploratory. Confirmation needs another dataset.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9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5H-1: controlled comparison, now built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ladder (one family, nested)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3749040" cy="457200"/>
          </a:xfrm>
          <a:prstGeom prst="roundRect">
            <a:avLst>
              <a:gd name="adj" fmla="val 1600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627632"/>
            <a:ext cx="347472" cy="347472"/>
          </a:xfrm>
          <a:prstGeom prst="ellipse">
            <a:avLst/>
          </a:prstGeom>
          <a:solidFill>
            <a:srgbClr val="8A949B"/>
          </a:solidFill>
          <a:ln w="12700">
            <a:solidFill>
              <a:srgbClr val="8A949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0352" y="1627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5727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rates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3639312" cy="457200"/>
          </a:xfrm>
          <a:prstGeom prst="roundRect">
            <a:avLst>
              <a:gd name="adj" fmla="val 1600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76272"/>
            <a:ext cx="347472" cy="347472"/>
          </a:xfrm>
          <a:prstGeom prst="ellipse">
            <a:avLst/>
          </a:prstGeom>
          <a:solidFill>
            <a:srgbClr val="8A949B"/>
          </a:solidFill>
          <a:ln w="12700">
            <a:solidFill>
              <a:srgbClr val="8A949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121408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pair heterogeneity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6656" y="2670048"/>
            <a:ext cx="3529584" cy="457200"/>
          </a:xfrm>
          <a:prstGeom prst="roundRect">
            <a:avLst>
              <a:gd name="adj" fmla="val 1600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724912"/>
            <a:ext cx="347472" cy="347472"/>
          </a:xfrm>
          <a:prstGeom prst="ellipse">
            <a:avLst/>
          </a:prstGeom>
          <a:solidFill>
            <a:srgbClr val="4A5A66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67004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duration (simple control)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6384" y="3218688"/>
            <a:ext cx="3419856" cy="457200"/>
          </a:xfrm>
          <a:prstGeom prst="roundRect">
            <a:avLst>
              <a:gd name="adj" fmla="val 1600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273552"/>
            <a:ext cx="347472" cy="347472"/>
          </a:xfrm>
          <a:prstGeom prst="ellipse">
            <a:avLst/>
          </a:prstGeom>
          <a:solidFill>
            <a:srgbClr val="4A5A66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3273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218688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current state (transition control)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96112" y="3767328"/>
            <a:ext cx="3310128" cy="457200"/>
          </a:xfrm>
          <a:prstGeom prst="roundRect">
            <a:avLst>
              <a:gd name="adj" fmla="val 16000"/>
            </a:avLst>
          </a:prstGeom>
          <a:solidFill>
            <a:srgbClr val="FBE3D3"/>
          </a:solidFill>
          <a:ln w="12700">
            <a:solidFill>
              <a:srgbClr val="FBE3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9264" y="3822192"/>
            <a:ext cx="347472" cy="347472"/>
          </a:xfrm>
          <a:prstGeom prst="ellipse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9264" y="3822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408176" y="3767328"/>
            <a:ext cx="2761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event history (excite / inhibit)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this session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663440" y="1572768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Primary-source literature check (frailty, point-process GLM, jitter nulls, semi-Markov)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Fitting-split audit: 5,600 videos, 356,040 events, 34 onset / 35 offset targets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Pre-registration committed before any comparison (07bf369)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engine; likelihood matches an exact reference; 234 tests pass (4d810ce)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run on 300 training videos — pipeline check only, not evidence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9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1D2B36"/>
                </a:solidFill>
                <a:latin typeface="Cambria"/>
              </a:rPr>
              <a:t>Registered comparison: decision NARROW</a:t>
            </a:r>
          </a:p>
        </p:txBody>
      </p:sp>
      <p:pic>
        <p:nvPicPr>
          <p:cNvPr id="3" name="Picture 2" descr="fig_mai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5394960" cy="2053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97880" y="109728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D2B36"/>
                </a:solidFill>
                <a:latin typeface="Calibri"/>
              </a:rPr>
              <a:t>K1 history | heterogeneity + duration
</a:t>
            </a:r>
            <a:r>
              <a:rPr sz="1100" b="0">
                <a:solidFill>
                  <a:srgbClr val="1D2B36"/>
                </a:solidFill>
                <a:latin typeface="Calibri"/>
              </a:rPr>
              <a:t>+0.145 [0.135, 0.155]   </a:t>
            </a:r>
            <a:r>
              <a:rPr sz="1100" b="1">
                <a:solidFill>
                  <a:srgbClr val="009E73"/>
                </a:solidFill>
                <a:latin typeface="Calibri"/>
              </a:rPr>
              <a:t>PASS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D2B36"/>
                </a:solidFill>
                <a:latin typeface="Calibri"/>
              </a:rPr>
              <a:t>K2 history | transition model
</a:t>
            </a:r>
            <a:r>
              <a:rPr sz="1100" b="0">
                <a:solidFill>
                  <a:srgbClr val="1D2B36"/>
                </a:solidFill>
                <a:latin typeface="Calibri"/>
              </a:rPr>
              <a:t>+0.083 [0.076, 0.090]   </a:t>
            </a:r>
            <a:r>
              <a:rPr sz="1100" b="1">
                <a:solidFill>
                  <a:srgbClr val="009E73"/>
                </a:solidFill>
                <a:latin typeface="Calibri"/>
              </a:rPr>
              <a:t>PASS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D2B36"/>
                </a:solidFill>
                <a:latin typeface="Calibri"/>
              </a:rPr>
              <a:t>K3 practical size
</a:t>
            </a:r>
            <a:r>
              <a:rPr sz="1100" b="0">
                <a:solidFill>
                  <a:srgbClr val="1D2B36"/>
                </a:solidFill>
                <a:latin typeface="Calibri"/>
              </a:rPr>
              <a:t>0.070 ≥ 0.026   </a:t>
            </a:r>
            <a:r>
              <a:rPr sz="1100" b="1">
                <a:solidFill>
                  <a:srgbClr val="009E73"/>
                </a:solidFill>
                <a:latin typeface="Calibri"/>
              </a:rPr>
              <a:t>PASS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D2B36"/>
                </a:solidFill>
                <a:latin typeface="Calibri"/>
              </a:rPr>
              <a:t>K4 reproducible interactions
</a:t>
            </a:r>
            <a:r>
              <a:rPr sz="1100" b="0">
                <a:solidFill>
                  <a:srgbClr val="1D2B36"/>
                </a:solidFill>
                <a:latin typeface="Calibri"/>
              </a:rPr>
              <a:t>0 discoveries   </a:t>
            </a:r>
            <a:r>
              <a:rPr sz="1100" b="1">
                <a:solidFill>
                  <a:srgbClr val="D55E00"/>
                </a:solidFill>
                <a:latin typeface="Calibri"/>
              </a:rPr>
              <a:t>FAIL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D2B36"/>
                </a:solidFill>
                <a:latin typeface="Calibri"/>
              </a:rPr>
              <a:t>Families passing
</a:t>
            </a:r>
            <a:r>
              <a:rPr sz="1100" b="0">
                <a:solidFill>
                  <a:srgbClr val="1D2B36"/>
                </a:solidFill>
                <a:latin typeface="Calibri"/>
              </a:rPr>
              <a:t>MOTION, SPATIAL   </a:t>
            </a:r>
            <a:r>
              <a:rPr sz="1100" b="1">
                <a:solidFill>
                  <a:srgbClr val="009E73"/>
                </a:solidFill>
                <a:latin typeface="Calibri"/>
              </a:rPr>
              <a:t>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97880" y="40690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4A5A66"/>
                </a:solidFill>
                <a:latin typeface="Calibri"/>
              </a:rPr>
              <a:t>Held-out on 84,715 events in 1535 videos; parameters frozen (commit 289319e) before evaluation. EXPLORATORY, annotations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D2B36"/>
                </a:solidFill>
                <a:latin typeface="Cambria"/>
              </a:rPr>
              <a:t>Above every null; single interactions do not replicate</a:t>
            </a:r>
          </a:p>
        </p:txBody>
      </p:sp>
      <p:pic>
        <p:nvPicPr>
          <p:cNvPr id="3" name="Picture 2" descr="fig_nul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5669280" cy="1751379"/>
          </a:xfrm>
          <a:prstGeom prst="rect">
            <a:avLst/>
          </a:prstGeom>
        </p:spPr>
      </p:pic>
      <p:pic>
        <p:nvPicPr>
          <p:cNvPr id="4" name="Picture 3" descr="fig_k4_st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834640"/>
            <a:ext cx="5669280" cy="1817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1188720"/>
            <a:ext cx="2697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E73"/>
                </a:solidFill>
                <a:latin typeface="Calibri"/>
              </a:rPr>
              <a:t>Positive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D2B36"/>
                </a:solidFill>
                <a:latin typeface="Calibri"/>
              </a:rPr>
              <a:t>Observed gains are about 5x the largest of 38 nulls (K1 null max 0.031, K2 null max 0.017).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D55E00"/>
                </a:solidFill>
                <a:latin typeface="Calibri"/>
              </a:rPr>
              <a:t>Negative findings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D2B36"/>
                </a:solidFill>
                <a:latin typeface="Calibri"/>
              </a:rPr>
              <a:t>K4: 0 discoveries (min FDR 0.16 &gt; 0.10).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D2B36"/>
                </a:solidFill>
                <a:latin typeface="Calibri"/>
              </a:rPr>
              <a:t>Null quality: N-circ +16% events, N-jit −9.3% to −9.8%.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D2B36"/>
                </a:solidFill>
                <a:latin typeface="Calibri"/>
              </a:rPr>
              <a:t>K4 statistic is inflated by ridge shrinkage in sparse cells (post-hoc).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1D2B36"/>
                </a:solidFill>
                <a:latin typeface="Cambria"/>
              </a:rPr>
              <a:t>Mechanism, and the annotation-timing caveat</a:t>
            </a:r>
          </a:p>
        </p:txBody>
      </p:sp>
      <p:pic>
        <p:nvPicPr>
          <p:cNvPr id="3" name="Picture 2" descr="fig_ablation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5852160" cy="2101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55080" y="1051560"/>
            <a:ext cx="2560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D2B36"/>
                </a:solidFill>
                <a:latin typeface="Calibri"/>
              </a:rPr>
              <a:t>Mechanism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D2B36"/>
                </a:solidFill>
                <a:latin typeface="Calibri"/>
              </a:rPr>
              <a:t>'Another relation starts → this one ends': +0.048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D2B36"/>
                </a:solidFill>
                <a:latin typeface="Calibri"/>
              </a:rPr>
              <a:t>Lags ≤ 2 s carry it; 2–10 s adds +0.010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D2B36"/>
                </a:solidFill>
                <a:latin typeface="Calibri"/>
              </a:rPr>
              <a:t>Positive-only (classical Hawkes) is worse: -0.031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D55E00"/>
                </a:solidFill>
                <a:latin typeface="Calibri"/>
              </a:rPr>
              <a:t>Caveat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D2B36"/>
                </a:solidFill>
                <a:latin typeface="Calibri"/>
              </a:rPr>
              <a:t>17.0% of events tie exactly with another relation's boundary on the same pair (spatial relabelling). Predictive association in annotation timing — not causal, not real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mbria"/>
              </a:rPr>
              <a:t>Decision and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2B48C"/>
                </a:solidFill>
                <a:latin typeface="Calibri"/>
              </a:rPr>
              <a:t>NARROW: </a:t>
            </a:r>
            <a:r>
              <a:rPr sz="1500" b="0">
                <a:solidFill>
                  <a:srgbClr val="FFFFFF"/>
                </a:solidFill>
                <a:latin typeface="Calibri"/>
              </a:rPr>
              <a:t>a real, consistent predictive gain from cross-relation timing in VidOR annotations, mainly spatial and motion relabelling within 2 s.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2B48C"/>
                </a:solidFill>
                <a:latin typeface="Calibri"/>
              </a:rPr>
              <a:t>No method contribution: </a:t>
            </a:r>
            <a:r>
              <a:rPr sz="1400" b="0">
                <a:solidFill>
                  <a:srgbClr val="FFFFFF"/>
                </a:solidFill>
                <a:latin typeface="Calibri"/>
              </a:rPr>
              <a:t>standard GLM; classical Hawkes is the worse variant; no reproducible interaction.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2B48C"/>
                </a:solidFill>
                <a:latin typeface="Calibri"/>
              </a:rPr>
              <a:t>Main paper track: </a:t>
            </a:r>
            <a:r>
              <a:rPr sz="1400" b="0">
                <a:solidFill>
                  <a:srgbClr val="FFFFFF"/>
                </a:solidFill>
                <a:latin typeface="Calibri"/>
              </a:rPr>
              <a:t>robustness/evaluation paper (Phases 3–4); this as an exploratory section.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143000"/>
            <a:ext cx="2926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2B48C"/>
                </a:solidFill>
                <a:latin typeface="Calibri"/>
              </a:rPr>
              <a:t>Proposed, not started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confirmation (VidVRD or PVSG), pre-registered first: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• repaired nulls (reflection jitter, boundary-tie control)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• support-aware stability statistic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• directional hypotheses fixed from this report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2B48C"/>
                </a:solidFill>
                <a:latin typeface="Calibri"/>
              </a:rPr>
              <a:t>Demo ≠ evidence: </a:t>
            </a:r>
            <a:r>
              <a:rPr sz="1100" b="0">
                <a:solidFill>
                  <a:srgbClr val="C9D3DA"/>
                </a:solidFill>
                <a:latin typeface="Calibri"/>
              </a:rPr>
              <a:t>the video demo is a synthetic illustration with hand-picked settings.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Phase 5H-1 supervisor update</dc:title>
  <dc:subject>PptxGenJS Presentation</dc:subject>
  <dc:creator>TAORG project</dc:creator>
  <cp:lastModifiedBy>TAORG project</cp:lastModifiedBy>
  <cp:revision>1</cp:revision>
  <dcterms:created xsi:type="dcterms:W3CDTF">2026-10-07T04:30:22Z</dcterms:created>
  <dcterms:modified xsi:type="dcterms:W3CDTF">2026-10-07T04:30:22Z</dcterms:modified>
</cp:coreProperties>
</file>